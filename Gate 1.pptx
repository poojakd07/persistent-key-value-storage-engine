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59" r:id="rId3"/>
    <p:sldId id="260" r:id="rId4"/>
    <p:sldId id="266" r:id="rId5"/>
    <p:sldId id="261" r:id="rId6"/>
    <p:sldId id="262" r:id="rId7"/>
    <p:sldId id="269" r:id="rId8"/>
    <p:sldId id="263" r:id="rId9"/>
    <p:sldId id="264" r:id="rId10"/>
    <p:sldId id="265" r:id="rId11"/>
    <p:sldId id="27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45DB36-2AB3-4AA4-AD07-C28937FAA53A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022DE1-4232-4C7E-8C0C-BB7D3B6CB3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2427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22DE1-4232-4C7E-8C0C-BB7D3B6CB3AB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1917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FF29F-36D9-7792-EB03-274BBF4E07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207CE6-CACC-A2F1-B307-6BA5E819F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C02B6-319C-D73B-9AAD-ED8257EFF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97F50-3206-4D29-BB4D-61FBB13EBDE0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D60B8-2BB3-C716-DE6D-E5BDCF424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B3B92-0FF3-6B2E-5787-FF9F35627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E339-21F8-423B-99FE-14DDEFD8D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9044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3768E-E179-29A8-4728-C9BCD9E50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91327-ADF8-90B6-43D1-4B637011B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3906D-F53C-80CC-D7E1-87D0D59CB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97F50-3206-4D29-BB4D-61FBB13EBDE0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FE0D2E-AFA5-A665-36C0-B913F5C4E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30CEB-EAED-BED1-11AB-646AD2266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E339-21F8-423B-99FE-14DDEFD8D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0175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B0350-B200-FCC8-0993-E510904B8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313D96-B0EB-BB8A-103B-41731BB19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EE740-0927-0096-0AEC-D9CF1C64E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97F50-3206-4D29-BB4D-61FBB13EBDE0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275BC-BF0F-8CF9-3A63-83B78C877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8354CD-8BD2-DAEE-CCD7-D42B11925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E339-21F8-423B-99FE-14DDEFD8D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5246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F6A86-A565-05F0-130C-F085D40DA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E55B2-2A33-9F3F-733A-7EAB1C1FA7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74C8B2-819A-5398-6FBA-B3925458FE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A50C11-7EBD-350B-A28E-E3F97655F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97F50-3206-4D29-BB4D-61FBB13EBDE0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58C7CA-A513-272E-756D-97AFAAF3F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C6ABC1-B462-629D-47E1-6FD04880E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E339-21F8-423B-99FE-14DDEFD8D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2282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30160-D85B-9300-F2E2-11BF7B310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8B772E-9433-4393-09EB-D399E51C7E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A10DE5-5898-8930-A7AA-5D26721CF2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3308D5-9A56-2305-4F01-508BB1B8F4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9B9E4C-1F94-DCD1-D557-142C7DF118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1B6FCD-B439-2C70-E292-931DED772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97F50-3206-4D29-BB4D-61FBB13EBDE0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80CAC0-6D6B-69DC-B3CA-B928C8FE2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8B8B1D-0B4F-FCB2-A8A6-AE6919D0C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E339-21F8-423B-99FE-14DDEFD8D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1794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7FF3F-34AD-4E96-EA79-A9E670776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F78D52-614A-539C-84D2-9D08B7B46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97F50-3206-4D29-BB4D-61FBB13EBDE0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C3F695-5150-525D-48C4-5BB0C4F93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AC0D9F-95C9-2A4D-56A7-2AA1A7CF2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E339-21F8-423B-99FE-14DDEFD8D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9876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6B92B3-8185-2EC5-9C7D-21AC4A73E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97F50-3206-4D29-BB4D-61FBB13EBDE0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94443F-2DF2-3728-5AB4-B81454598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3912C3-4CE0-4ED6-6BF3-8208A9379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E339-21F8-423B-99FE-14DDEFD8D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506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D7B13-B65F-2E84-CF3A-63EEFB504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F9269-F9ED-6702-CCE5-6604067B2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FE5352-99B1-CDEE-09CB-58E9B3729A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D5B60C-ACB6-D9AF-7125-1D0222D6B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97F50-3206-4D29-BB4D-61FBB13EBDE0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19FEF7-B678-9ECD-D5E5-09E117ACC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59918C-55CD-C9CF-8E52-51DA977FF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E339-21F8-423B-99FE-14DDEFD8D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5134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3B4AC-9E51-5C53-FEDC-983D7E6B8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585D3B-0576-BBE3-A28F-F88BFF665FB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EF1689-593E-7D3C-8EE6-D848C3FD7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E5A6ED-DC8E-DEFC-FD32-1D8455FD0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97F50-3206-4D29-BB4D-61FBB13EBDE0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47E736-C2D5-AC5A-1A99-33AD8ED43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F78F5-AC5E-461A-DBF8-FDDA14E42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E339-21F8-423B-99FE-14DDEFD8D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9728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6BB73-9D4E-E076-E16E-A65F96C9A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86FBA7-11CE-1E46-9956-1A16004162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99DF90-E196-71D7-4AB2-79E8CB733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97F50-3206-4D29-BB4D-61FBB13EBDE0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EE68C-4E00-A204-AAFA-16893D097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7C2247-F875-DA4F-DBB8-B1B9E22B1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E339-21F8-423B-99FE-14DDEFD8D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5981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BE15EB-DAE8-F112-D023-97F5DF6945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030A5D-6A7A-D28F-FEB5-28F4BE3C57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6C356-D69C-5082-B2DE-2395525F0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97F50-3206-4D29-BB4D-61FBB13EBDE0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1377BC-B904-A541-C9E5-9E976D407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97E14-E96F-3FDC-3718-1502238FA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E339-21F8-423B-99FE-14DDEFD8D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9619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87B51E-F48C-005A-7A40-9EA70BA02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69D44C-0EB3-3177-90DC-ECFA8BE778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422940-E1E3-1B84-45C6-7E3EEC5975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97F50-3206-4D29-BB4D-61FBB13EBDE0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D462BE-8CFD-FFDF-C310-40B9A821CE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8AA9A-7A91-E7D3-1650-B4B3DE4735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E4E339-21F8-423B-99FE-14DDEFD8D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848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9847B-EC4A-A55B-9CEE-F9E7B662927C}"/>
              </a:ext>
            </a:extLst>
          </p:cNvPr>
          <p:cNvSpPr txBox="1">
            <a:spLocks/>
          </p:cNvSpPr>
          <p:nvPr/>
        </p:nvSpPr>
        <p:spPr>
          <a:xfrm>
            <a:off x="1805115" y="1190085"/>
            <a:ext cx="8780204" cy="66841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Persistent Key-Value Storage Engine</a:t>
            </a:r>
            <a:endParaRPr lang="en-IN" alt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74FFEC-6BC9-DCD6-689B-696B333D82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7911" y="176012"/>
            <a:ext cx="3422650" cy="582042"/>
          </a:xfrm>
          <a:prstGeom prst="rect">
            <a:avLst/>
          </a:prstGeom>
        </p:spPr>
      </p:pic>
      <p:sp>
        <p:nvSpPr>
          <p:cNvPr id="4" name="Line 2">
            <a:extLst>
              <a:ext uri="{FF2B5EF4-FFF2-40B4-BE49-F238E27FC236}">
                <a16:creationId xmlns:a16="http://schemas.microsoft.com/office/drawing/2014/main" id="{5F160D2B-A2DA-4A2B-33C1-235C5ADA2D8F}"/>
              </a:ext>
            </a:extLst>
          </p:cNvPr>
          <p:cNvSpPr/>
          <p:nvPr/>
        </p:nvSpPr>
        <p:spPr bwMode="auto">
          <a:xfrm>
            <a:off x="198437" y="1110665"/>
            <a:ext cx="11993563" cy="20637"/>
          </a:xfrm>
          <a:prstGeom prst="line">
            <a:avLst/>
          </a:prstGeom>
          <a:ln w="3240">
            <a:solidFill>
              <a:srgbClr val="E4948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911A9CA-1BDE-6F1C-4F13-6C49303CB1DA}"/>
              </a:ext>
            </a:extLst>
          </p:cNvPr>
          <p:cNvGraphicFramePr>
            <a:graphicFrameLocks noGrp="1"/>
          </p:cNvGraphicFramePr>
          <p:nvPr/>
        </p:nvGraphicFramePr>
        <p:xfrm>
          <a:off x="1573164" y="2231749"/>
          <a:ext cx="8780204" cy="3419284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3413483">
                  <a:extLst>
                    <a:ext uri="{9D8B030D-6E8A-4147-A177-3AD203B41FA5}">
                      <a16:colId xmlns:a16="http://schemas.microsoft.com/office/drawing/2014/main" val="4018028220"/>
                    </a:ext>
                  </a:extLst>
                </a:gridCol>
                <a:gridCol w="3404123">
                  <a:extLst>
                    <a:ext uri="{9D8B030D-6E8A-4147-A177-3AD203B41FA5}">
                      <a16:colId xmlns:a16="http://schemas.microsoft.com/office/drawing/2014/main" val="3894831106"/>
                    </a:ext>
                  </a:extLst>
                </a:gridCol>
                <a:gridCol w="1962598">
                  <a:extLst>
                    <a:ext uri="{9D8B030D-6E8A-4147-A177-3AD203B41FA5}">
                      <a16:colId xmlns:a16="http://schemas.microsoft.com/office/drawing/2014/main" val="2506600186"/>
                    </a:ext>
                  </a:extLst>
                </a:gridCol>
              </a:tblGrid>
              <a:tr h="475202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USN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Roll No.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538414"/>
                  </a:ext>
                </a:extLst>
              </a:tr>
              <a:tr h="475202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Pooja D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01FE24BCI105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232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3238020"/>
                  </a:ext>
                </a:extLst>
              </a:tr>
              <a:tr h="76459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Sukanya S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01FE24BCI108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235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946668"/>
                  </a:ext>
                </a:extLst>
              </a:tr>
              <a:tr h="76459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Keerthana K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01FE24BCI118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242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1627512"/>
                  </a:ext>
                </a:extLst>
              </a:tr>
              <a:tr h="76459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Sakshi D Suryavanshi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01FE24BCI109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236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7378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D454172-6312-C6F1-281C-D3312E83AF4F}"/>
              </a:ext>
            </a:extLst>
          </p:cNvPr>
          <p:cNvSpPr txBox="1"/>
          <p:nvPr/>
        </p:nvSpPr>
        <p:spPr>
          <a:xfrm>
            <a:off x="4557253" y="5708171"/>
            <a:ext cx="3077494" cy="76944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: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Shrushti Gani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67B07A-15E8-1AD8-9F17-91516B5D8C96}"/>
              </a:ext>
            </a:extLst>
          </p:cNvPr>
          <p:cNvSpPr txBox="1"/>
          <p:nvPr/>
        </p:nvSpPr>
        <p:spPr>
          <a:xfrm>
            <a:off x="5751362" y="765108"/>
            <a:ext cx="65389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 OF COMPUTER SCINENCE – ARTIFICIAL INTELLI</a:t>
            </a:r>
            <a:r>
              <a:rPr lang="en-US" sz="1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GENCE</a:t>
            </a:r>
            <a:endParaRPr lang="en-IN" sz="1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EFB4D2-6622-487A-BC25-937798482487}"/>
              </a:ext>
            </a:extLst>
          </p:cNvPr>
          <p:cNvSpPr txBox="1"/>
          <p:nvPr/>
        </p:nvSpPr>
        <p:spPr>
          <a:xfrm>
            <a:off x="5094005" y="1732618"/>
            <a:ext cx="2792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8A9BC47-5871-12C4-E4ED-BDDC5C805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9379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98D94-F23D-C2E8-D5DE-F5FA15300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C0BD254-2231-0CC9-A164-38F34E356D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7911" y="176012"/>
            <a:ext cx="3422650" cy="582042"/>
          </a:xfrm>
          <a:prstGeom prst="rect">
            <a:avLst/>
          </a:prstGeom>
        </p:spPr>
      </p:pic>
      <p:sp>
        <p:nvSpPr>
          <p:cNvPr id="4" name="Line 2">
            <a:extLst>
              <a:ext uri="{FF2B5EF4-FFF2-40B4-BE49-F238E27FC236}">
                <a16:creationId xmlns:a16="http://schemas.microsoft.com/office/drawing/2014/main" id="{66CAEF10-AA79-5CF5-4988-D062D2EC070F}"/>
              </a:ext>
            </a:extLst>
          </p:cNvPr>
          <p:cNvSpPr/>
          <p:nvPr/>
        </p:nvSpPr>
        <p:spPr bwMode="auto">
          <a:xfrm>
            <a:off x="198437" y="1110665"/>
            <a:ext cx="11993563" cy="20637"/>
          </a:xfrm>
          <a:prstGeom prst="line">
            <a:avLst/>
          </a:prstGeom>
          <a:ln w="3240">
            <a:solidFill>
              <a:srgbClr val="E4948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7F02B8B-184C-9BBA-61FA-B54E5F14A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2</a:t>
            </a:fld>
            <a:endParaRPr lang="en-IN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D44D5B0-B977-AB95-7233-36A3C89111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0510263"/>
              </p:ext>
            </p:extLst>
          </p:nvPr>
        </p:nvGraphicFramePr>
        <p:xfrm>
          <a:off x="99219" y="1890013"/>
          <a:ext cx="11993561" cy="4791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7549">
                  <a:extLst>
                    <a:ext uri="{9D8B030D-6E8A-4147-A177-3AD203B41FA5}">
                      <a16:colId xmlns:a16="http://schemas.microsoft.com/office/drawing/2014/main" val="3320823609"/>
                    </a:ext>
                  </a:extLst>
                </a:gridCol>
                <a:gridCol w="2127889">
                  <a:extLst>
                    <a:ext uri="{9D8B030D-6E8A-4147-A177-3AD203B41FA5}">
                      <a16:colId xmlns:a16="http://schemas.microsoft.com/office/drawing/2014/main" val="944460270"/>
                    </a:ext>
                  </a:extLst>
                </a:gridCol>
                <a:gridCol w="1895759">
                  <a:extLst>
                    <a:ext uri="{9D8B030D-6E8A-4147-A177-3AD203B41FA5}">
                      <a16:colId xmlns:a16="http://schemas.microsoft.com/office/drawing/2014/main" val="1277188586"/>
                    </a:ext>
                  </a:extLst>
                </a:gridCol>
                <a:gridCol w="2795273">
                  <a:extLst>
                    <a:ext uri="{9D8B030D-6E8A-4147-A177-3AD203B41FA5}">
                      <a16:colId xmlns:a16="http://schemas.microsoft.com/office/drawing/2014/main" val="1735691739"/>
                    </a:ext>
                  </a:extLst>
                </a:gridCol>
                <a:gridCol w="2621174">
                  <a:extLst>
                    <a:ext uri="{9D8B030D-6E8A-4147-A177-3AD203B41FA5}">
                      <a16:colId xmlns:a16="http://schemas.microsoft.com/office/drawing/2014/main" val="2793434251"/>
                    </a:ext>
                  </a:extLst>
                </a:gridCol>
                <a:gridCol w="1595917">
                  <a:extLst>
                    <a:ext uri="{9D8B030D-6E8A-4147-A177-3AD203B41FA5}">
                      <a16:colId xmlns:a16="http://schemas.microsoft.com/office/drawing/2014/main" val="2320810091"/>
                    </a:ext>
                  </a:extLst>
                </a:gridCol>
              </a:tblGrid>
              <a:tr h="1074072">
                <a:tc>
                  <a:txBody>
                    <a:bodyPr/>
                    <a:lstStyle/>
                    <a:p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Engine ID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Proposed Engine Name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Major course Covered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Technical Problem Owned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Primary Responsibility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Primary Student Owner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0611349"/>
                  </a:ext>
                </a:extLst>
              </a:tr>
              <a:tr h="1992879"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E1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Parsing Engine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Compiler Design + Data Structures + DBMS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Understanding and validating commands entered using the custom NoSQL command language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Perform lexical analysis, syntax checking and semantic validation, and convert commands into structured instructions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Pooja K D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3604897"/>
                  </a:ext>
                </a:extLst>
              </a:tr>
              <a:tr h="1725024"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E2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Storage Engine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Operating Systems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Permanent storage and modification of key-value records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Create, update, delete and persist key-value records in local storage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Sakshi D Suryavanshi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588325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3C3D122C-1A44-865C-4528-848F2E4158A0}"/>
              </a:ext>
            </a:extLst>
          </p:cNvPr>
          <p:cNvSpPr txBox="1"/>
          <p:nvPr/>
        </p:nvSpPr>
        <p:spPr>
          <a:xfrm>
            <a:off x="3704414" y="1169082"/>
            <a:ext cx="478316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Engine Summary </a:t>
            </a:r>
            <a:endParaRPr lang="en-IN" sz="30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D5F8F7D-6206-BE68-C8B8-99978B77C894}"/>
              </a:ext>
            </a:extLst>
          </p:cNvPr>
          <p:cNvSpPr txBox="1">
            <a:spLocks/>
          </p:cNvSpPr>
          <p:nvPr/>
        </p:nvSpPr>
        <p:spPr>
          <a:xfrm>
            <a:off x="-216310" y="667941"/>
            <a:ext cx="4680154" cy="66841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Persistent Key-Value Storage Engine</a:t>
            </a:r>
            <a:endParaRPr lang="en-IN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5529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D12D3-C153-93AE-7D79-6D1784DBA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5A9D315-0F74-FA3F-A062-A7D8311AE7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7911" y="176012"/>
            <a:ext cx="3422650" cy="582042"/>
          </a:xfrm>
          <a:prstGeom prst="rect">
            <a:avLst/>
          </a:prstGeom>
        </p:spPr>
      </p:pic>
      <p:sp>
        <p:nvSpPr>
          <p:cNvPr id="4" name="Line 2">
            <a:extLst>
              <a:ext uri="{FF2B5EF4-FFF2-40B4-BE49-F238E27FC236}">
                <a16:creationId xmlns:a16="http://schemas.microsoft.com/office/drawing/2014/main" id="{EAA03040-858C-AB67-2A59-CD208A126FD8}"/>
              </a:ext>
            </a:extLst>
          </p:cNvPr>
          <p:cNvSpPr/>
          <p:nvPr/>
        </p:nvSpPr>
        <p:spPr bwMode="auto">
          <a:xfrm>
            <a:off x="198437" y="1110665"/>
            <a:ext cx="11993563" cy="20637"/>
          </a:xfrm>
          <a:prstGeom prst="line">
            <a:avLst/>
          </a:prstGeom>
          <a:ln w="3240">
            <a:solidFill>
              <a:srgbClr val="E4948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2F1603B-90DF-4474-B19F-02C94268F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3</a:t>
            </a:fld>
            <a:endParaRPr lang="en-IN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25B923D-E2D9-00B8-7946-BB65262777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1054919"/>
              </p:ext>
            </p:extLst>
          </p:nvPr>
        </p:nvGraphicFramePr>
        <p:xfrm>
          <a:off x="532170" y="2307406"/>
          <a:ext cx="11127658" cy="3552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8417">
                  <a:extLst>
                    <a:ext uri="{9D8B030D-6E8A-4147-A177-3AD203B41FA5}">
                      <a16:colId xmlns:a16="http://schemas.microsoft.com/office/drawing/2014/main" val="2964122676"/>
                    </a:ext>
                  </a:extLst>
                </a:gridCol>
                <a:gridCol w="1974262">
                  <a:extLst>
                    <a:ext uri="{9D8B030D-6E8A-4147-A177-3AD203B41FA5}">
                      <a16:colId xmlns:a16="http://schemas.microsoft.com/office/drawing/2014/main" val="366186018"/>
                    </a:ext>
                  </a:extLst>
                </a:gridCol>
                <a:gridCol w="1758889">
                  <a:extLst>
                    <a:ext uri="{9D8B030D-6E8A-4147-A177-3AD203B41FA5}">
                      <a16:colId xmlns:a16="http://schemas.microsoft.com/office/drawing/2014/main" val="2386902718"/>
                    </a:ext>
                  </a:extLst>
                </a:gridCol>
                <a:gridCol w="2593462">
                  <a:extLst>
                    <a:ext uri="{9D8B030D-6E8A-4147-A177-3AD203B41FA5}">
                      <a16:colId xmlns:a16="http://schemas.microsoft.com/office/drawing/2014/main" val="3693561546"/>
                    </a:ext>
                  </a:extLst>
                </a:gridCol>
                <a:gridCol w="2431932">
                  <a:extLst>
                    <a:ext uri="{9D8B030D-6E8A-4147-A177-3AD203B41FA5}">
                      <a16:colId xmlns:a16="http://schemas.microsoft.com/office/drawing/2014/main" val="2426274494"/>
                    </a:ext>
                  </a:extLst>
                </a:gridCol>
                <a:gridCol w="1480696">
                  <a:extLst>
                    <a:ext uri="{9D8B030D-6E8A-4147-A177-3AD203B41FA5}">
                      <a16:colId xmlns:a16="http://schemas.microsoft.com/office/drawing/2014/main" val="2838310489"/>
                    </a:ext>
                  </a:extLst>
                </a:gridCol>
              </a:tblGrid>
              <a:tr h="1544278"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E3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Retrieving Engine</a:t>
                      </a:r>
                      <a:endParaRPr lang="en-IN" sz="20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44450" marB="4445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Data Structures + DAA</a:t>
                      </a:r>
                      <a:endParaRPr lang="en-IN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Efficiently finding a value using its key</a:t>
                      </a:r>
                      <a:endParaRPr lang="en-IN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Efficiently finding and returning the value associated with a key</a:t>
                      </a:r>
                      <a:endParaRPr lang="en-IN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Sukanya M S</a:t>
                      </a:r>
                      <a:endParaRPr lang="en-IN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298960"/>
                  </a:ext>
                </a:extLst>
              </a:tr>
              <a:tr h="2008342"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E4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Indexing Engine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Data Structures + DAA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Slow key lookup as the number of records increases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IN" sz="2000" dirty="0"/>
                        <a:t>Maintain a key-to-storage-location mapping for faster lookup and retrieval</a:t>
                      </a:r>
                      <a:endParaRPr lang="en-IN" sz="2000" dirty="0">
                        <a:solidFill>
                          <a:srgbClr val="20202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44450" marB="44450" anchor="ctr"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Keerthana K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0533453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E160522-395A-A825-6733-A74043122E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434291"/>
              </p:ext>
            </p:extLst>
          </p:nvPr>
        </p:nvGraphicFramePr>
        <p:xfrm>
          <a:off x="532172" y="1233334"/>
          <a:ext cx="11127658" cy="1074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8417">
                  <a:extLst>
                    <a:ext uri="{9D8B030D-6E8A-4147-A177-3AD203B41FA5}">
                      <a16:colId xmlns:a16="http://schemas.microsoft.com/office/drawing/2014/main" val="1464893641"/>
                    </a:ext>
                  </a:extLst>
                </a:gridCol>
                <a:gridCol w="1974261">
                  <a:extLst>
                    <a:ext uri="{9D8B030D-6E8A-4147-A177-3AD203B41FA5}">
                      <a16:colId xmlns:a16="http://schemas.microsoft.com/office/drawing/2014/main" val="1098163180"/>
                    </a:ext>
                  </a:extLst>
                </a:gridCol>
                <a:gridCol w="1758890">
                  <a:extLst>
                    <a:ext uri="{9D8B030D-6E8A-4147-A177-3AD203B41FA5}">
                      <a16:colId xmlns:a16="http://schemas.microsoft.com/office/drawing/2014/main" val="327636760"/>
                    </a:ext>
                  </a:extLst>
                </a:gridCol>
                <a:gridCol w="2593462">
                  <a:extLst>
                    <a:ext uri="{9D8B030D-6E8A-4147-A177-3AD203B41FA5}">
                      <a16:colId xmlns:a16="http://schemas.microsoft.com/office/drawing/2014/main" val="3957267744"/>
                    </a:ext>
                  </a:extLst>
                </a:gridCol>
                <a:gridCol w="2431932">
                  <a:extLst>
                    <a:ext uri="{9D8B030D-6E8A-4147-A177-3AD203B41FA5}">
                      <a16:colId xmlns:a16="http://schemas.microsoft.com/office/drawing/2014/main" val="3641779677"/>
                    </a:ext>
                  </a:extLst>
                </a:gridCol>
                <a:gridCol w="1480696">
                  <a:extLst>
                    <a:ext uri="{9D8B030D-6E8A-4147-A177-3AD203B41FA5}">
                      <a16:colId xmlns:a16="http://schemas.microsoft.com/office/drawing/2014/main" val="3141379089"/>
                    </a:ext>
                  </a:extLst>
                </a:gridCol>
              </a:tblGrid>
              <a:tr h="1074072">
                <a:tc>
                  <a:txBody>
                    <a:bodyPr/>
                    <a:lstStyle/>
                    <a:p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Engine ID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Proposed Engine Name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Major course Covered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Technical Problem Owned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Primary Responsibility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Primary Student Owner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9904132"/>
                  </a:ext>
                </a:extLst>
              </a:tr>
            </a:tbl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F1893515-5E8D-D59A-788A-2F0AE639B752}"/>
              </a:ext>
            </a:extLst>
          </p:cNvPr>
          <p:cNvSpPr txBox="1">
            <a:spLocks/>
          </p:cNvSpPr>
          <p:nvPr/>
        </p:nvSpPr>
        <p:spPr>
          <a:xfrm>
            <a:off x="-216310" y="667941"/>
            <a:ext cx="4680154" cy="66841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Persistent Key-Value Storage Engine</a:t>
            </a:r>
            <a:endParaRPr lang="en-IN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540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53F22-DBB4-5502-FA7E-35C03CE88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A5CFE85-53E5-D66B-5740-0345491195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7911" y="176012"/>
            <a:ext cx="3422650" cy="582042"/>
          </a:xfrm>
          <a:prstGeom prst="rect">
            <a:avLst/>
          </a:prstGeom>
        </p:spPr>
      </p:pic>
      <p:sp>
        <p:nvSpPr>
          <p:cNvPr id="4" name="Line 2">
            <a:extLst>
              <a:ext uri="{FF2B5EF4-FFF2-40B4-BE49-F238E27FC236}">
                <a16:creationId xmlns:a16="http://schemas.microsoft.com/office/drawing/2014/main" id="{B9108E39-674F-FC97-9D6D-7FF5262D20DD}"/>
              </a:ext>
            </a:extLst>
          </p:cNvPr>
          <p:cNvSpPr/>
          <p:nvPr/>
        </p:nvSpPr>
        <p:spPr bwMode="auto">
          <a:xfrm>
            <a:off x="198437" y="1110665"/>
            <a:ext cx="11993563" cy="20637"/>
          </a:xfrm>
          <a:prstGeom prst="line">
            <a:avLst/>
          </a:prstGeom>
          <a:ln w="3240">
            <a:solidFill>
              <a:srgbClr val="E4948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FC1DF7-F263-53FC-D0D7-866610B17F0F}"/>
              </a:ext>
            </a:extLst>
          </p:cNvPr>
          <p:cNvSpPr txBox="1"/>
          <p:nvPr/>
        </p:nvSpPr>
        <p:spPr>
          <a:xfrm>
            <a:off x="5751362" y="765108"/>
            <a:ext cx="65389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 OF COMPUTER SCINENCE – ARTIFICIAL INTELLI</a:t>
            </a:r>
            <a:r>
              <a:rPr lang="en-US" sz="1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GENCE</a:t>
            </a:r>
            <a:endParaRPr lang="en-IN" sz="1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63B2C22-EA19-5187-C110-BFB022C30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4</a:t>
            </a:fld>
            <a:endParaRPr lang="en-IN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536C782-CE5C-70F7-8CEE-CCD680B2F201}"/>
              </a:ext>
            </a:extLst>
          </p:cNvPr>
          <p:cNvSpPr txBox="1">
            <a:spLocks/>
          </p:cNvSpPr>
          <p:nvPr/>
        </p:nvSpPr>
        <p:spPr>
          <a:xfrm>
            <a:off x="-216310" y="667941"/>
            <a:ext cx="4680154" cy="66841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Persistent Key-Value Storage Engine</a:t>
            </a:r>
            <a:endParaRPr lang="en-IN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BDABF81-109C-4597-9724-004CF9F303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9672161"/>
              </p:ext>
            </p:extLst>
          </p:nvPr>
        </p:nvGraphicFramePr>
        <p:xfrm>
          <a:off x="656321" y="1451613"/>
          <a:ext cx="11064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4124682154"/>
                    </a:ext>
                  </a:extLst>
                </a:gridCol>
                <a:gridCol w="7223760">
                  <a:extLst>
                    <a:ext uri="{9D8B030D-6E8A-4147-A177-3AD203B41FA5}">
                      <a16:colId xmlns:a16="http://schemas.microsoft.com/office/drawing/2014/main" val="4053835943"/>
                    </a:ext>
                  </a:extLst>
                </a:gridCol>
              </a:tblGrid>
              <a:tr h="807720">
                <a:tc>
                  <a:txBody>
                    <a:bodyPr/>
                    <a:lstStyle/>
                    <a:p>
                      <a:pPr algn="l"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Courses</a:t>
                      </a:r>
                    </a:p>
                  </a:txBody>
                  <a:tcPr marL="164592" marR="164592" marT="73152" marB="73152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Concepts Used</a:t>
                      </a:r>
                    </a:p>
                  </a:txBody>
                  <a:tcPr marL="164592" marR="164592" marT="73152" marB="73152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725887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232A32"/>
                          </a:solidFill>
                          <a:latin typeface="Arial"/>
                        </a:defRPr>
                      </a:pPr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DAA (Design and Analysis of Algorithms)</a:t>
                      </a:r>
                    </a:p>
                  </a:txBody>
                  <a:tcPr marL="164592" marR="16459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232A32"/>
                          </a:solidFill>
                          <a:latin typeface="Arial"/>
                        </a:defRPr>
                      </a:pPr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Hashing and efficient searching</a:t>
                      </a:r>
                    </a:p>
                  </a:txBody>
                  <a:tcPr marL="164592" marR="164592" marT="73152" marB="73152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163175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232A32"/>
                          </a:solidFill>
                          <a:latin typeface="Arial"/>
                        </a:defRPr>
                      </a:pPr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Structures</a:t>
                      </a:r>
                    </a:p>
                  </a:txBody>
                  <a:tcPr marL="164592" marR="16459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232A32"/>
                          </a:solidFill>
                          <a:latin typeface="Arial"/>
                        </a:defRPr>
                      </a:pPr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Hash tables, key-value pairs and indexing</a:t>
                      </a:r>
                    </a:p>
                  </a:txBody>
                  <a:tcPr marL="164592" marR="164592" marT="73152" marB="73152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031464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232A32"/>
                          </a:solidFill>
                          <a:latin typeface="Arial"/>
                        </a:defRPr>
                      </a:pPr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Operating Systems</a:t>
                      </a:r>
                    </a:p>
                  </a:txBody>
                  <a:tcPr marL="164592" marR="16459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232A32"/>
                          </a:solidFill>
                          <a:latin typeface="Arial"/>
                        </a:defRPr>
                      </a:pPr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File handling, file operations and data persistence</a:t>
                      </a:r>
                    </a:p>
                  </a:txBody>
                  <a:tcPr marL="164592" marR="164592" marT="73152" marB="73152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969031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232A32"/>
                          </a:solidFill>
                          <a:latin typeface="Arial"/>
                        </a:defRPr>
                      </a:pPr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Compiler Design</a:t>
                      </a:r>
                    </a:p>
                  </a:txBody>
                  <a:tcPr marL="164592" marR="16459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232A32"/>
                          </a:solidFill>
                          <a:latin typeface="Arial"/>
                        </a:defRPr>
                      </a:pPr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Lexical analysis, syntax checking and semantic validation</a:t>
                      </a:r>
                    </a:p>
                  </a:txBody>
                  <a:tcPr marL="164592" marR="164592" marT="73152" marB="73152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7808440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232A32"/>
                          </a:solidFill>
                          <a:latin typeface="Arial"/>
                        </a:defRPr>
                      </a:pPr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DBMS</a:t>
                      </a:r>
                    </a:p>
                  </a:txBody>
                  <a:tcPr marL="164592" marR="16459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232A32"/>
                          </a:solidFill>
                          <a:latin typeface="Arial"/>
                        </a:defRPr>
                      </a:pPr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 operations, record management and data recovery</a:t>
                      </a:r>
                    </a:p>
                  </a:txBody>
                  <a:tcPr marL="164592" marR="164592" marT="73152" marB="73152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802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8618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71D0E-C32D-8E31-0D1C-1ABD2E3EB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EC69779-9212-CCD1-FA38-1179CB3402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7911" y="176012"/>
            <a:ext cx="3422650" cy="582042"/>
          </a:xfrm>
          <a:prstGeom prst="rect">
            <a:avLst/>
          </a:prstGeom>
        </p:spPr>
      </p:pic>
      <p:sp>
        <p:nvSpPr>
          <p:cNvPr id="4" name="Line 2">
            <a:extLst>
              <a:ext uri="{FF2B5EF4-FFF2-40B4-BE49-F238E27FC236}">
                <a16:creationId xmlns:a16="http://schemas.microsoft.com/office/drawing/2014/main" id="{E0AECC7C-A48B-9007-06A0-03C99FFB9CBB}"/>
              </a:ext>
            </a:extLst>
          </p:cNvPr>
          <p:cNvSpPr/>
          <p:nvPr/>
        </p:nvSpPr>
        <p:spPr bwMode="auto">
          <a:xfrm>
            <a:off x="198437" y="1110665"/>
            <a:ext cx="11993563" cy="20637"/>
          </a:xfrm>
          <a:prstGeom prst="line">
            <a:avLst/>
          </a:prstGeom>
          <a:ln w="3240">
            <a:solidFill>
              <a:srgbClr val="E4948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694FE49-19A5-8921-4B87-151F6F07F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5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A97ADB-B4CC-B4FD-091A-5FC194473B3E}"/>
              </a:ext>
            </a:extLst>
          </p:cNvPr>
          <p:cNvSpPr txBox="1"/>
          <p:nvPr/>
        </p:nvSpPr>
        <p:spPr>
          <a:xfrm>
            <a:off x="3838987" y="1265616"/>
            <a:ext cx="533450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 </a:t>
            </a:r>
            <a:endParaRPr lang="en-IN" sz="30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A97922C-91F8-86A6-42D4-8AF4FC7839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959595"/>
              </p:ext>
            </p:extLst>
          </p:nvPr>
        </p:nvGraphicFramePr>
        <p:xfrm>
          <a:off x="198437" y="2170238"/>
          <a:ext cx="11796918" cy="42594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25">
                  <a:extLst>
                    <a:ext uri="{9D8B030D-6E8A-4147-A177-3AD203B41FA5}">
                      <a16:colId xmlns:a16="http://schemas.microsoft.com/office/drawing/2014/main" val="2317450922"/>
                    </a:ext>
                  </a:extLst>
                </a:gridCol>
                <a:gridCol w="10562493">
                  <a:extLst>
                    <a:ext uri="{9D8B030D-6E8A-4147-A177-3AD203B41FA5}">
                      <a16:colId xmlns:a16="http://schemas.microsoft.com/office/drawing/2014/main" val="1123206439"/>
                    </a:ext>
                  </a:extLst>
                </a:gridCol>
              </a:tblGrid>
              <a:tr h="8518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FR ID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6194034"/>
                  </a:ext>
                </a:extLst>
              </a:tr>
              <a:tr h="851893">
                <a:tc>
                  <a:txBody>
                    <a:bodyPr/>
                    <a:lstStyle/>
                    <a:p>
                      <a:r>
                        <a:rPr lang="en-IN" sz="2000" dirty="0"/>
                        <a:t>FR-01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The system shall accept and validate custom NoSQL commands using the Parsing Engine.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2506091"/>
                  </a:ext>
                </a:extLst>
              </a:tr>
              <a:tr h="851893">
                <a:tc>
                  <a:txBody>
                    <a:bodyPr/>
                    <a:lstStyle/>
                    <a:p>
                      <a:r>
                        <a:rPr lang="en-IN" sz="2000" dirty="0"/>
                        <a:t>FR-02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The system shall create, update, and delete key-value pairs using </a:t>
                      </a:r>
                      <a:r>
                        <a:rPr lang="en-IN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SET</a:t>
                      </a:r>
                      <a:r>
                        <a:rPr lang="en-IN" sz="2000" dirty="0"/>
                        <a:t>, </a:t>
                      </a:r>
                      <a:r>
                        <a:rPr lang="en-IN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UPDATE</a:t>
                      </a:r>
                      <a:r>
                        <a:rPr lang="en-IN" sz="2000" dirty="0"/>
                        <a:t>, and </a:t>
                      </a:r>
                      <a:r>
                        <a:rPr lang="en-IN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DELETE</a:t>
                      </a:r>
                      <a:r>
                        <a:rPr lang="en-IN" sz="2000" dirty="0"/>
                        <a:t> commands.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0974802"/>
                  </a:ext>
                </a:extLst>
              </a:tr>
              <a:tr h="851893">
                <a:tc>
                  <a:txBody>
                    <a:bodyPr/>
                    <a:lstStyle/>
                    <a:p>
                      <a:r>
                        <a:rPr lang="en-IN" sz="2000" dirty="0"/>
                        <a:t>FR-03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The system shall retrieve values associated with keys using the </a:t>
                      </a:r>
                      <a:r>
                        <a:rPr lang="en-IN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GET</a:t>
                      </a:r>
                      <a:r>
                        <a:rPr lang="en-IN" sz="2000" dirty="0"/>
                        <a:t> command.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3867267"/>
                  </a:ext>
                </a:extLst>
              </a:tr>
              <a:tr h="851893">
                <a:tc>
                  <a:txBody>
                    <a:bodyPr/>
                    <a:lstStyle/>
                    <a:p>
                      <a:r>
                        <a:rPr lang="en-IN" sz="2000" dirty="0"/>
                        <a:t>FR-04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The system shall maintain an index mapping keys to storage locations for faster retrieval.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5307446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BC2BBB9F-B875-1E7E-7132-964AE77D4F9B}"/>
              </a:ext>
            </a:extLst>
          </p:cNvPr>
          <p:cNvSpPr txBox="1">
            <a:spLocks/>
          </p:cNvSpPr>
          <p:nvPr/>
        </p:nvSpPr>
        <p:spPr>
          <a:xfrm>
            <a:off x="-216310" y="667941"/>
            <a:ext cx="4680154" cy="66841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Persistent Key-Value Storage Engine</a:t>
            </a:r>
            <a:endParaRPr lang="en-IN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9482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A5E6C-68B9-5EBD-EE15-7E63B8A17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A483C39-D7C0-D6CB-3F83-46EFF613FA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7911" y="176012"/>
            <a:ext cx="3422650" cy="582042"/>
          </a:xfrm>
          <a:prstGeom prst="rect">
            <a:avLst/>
          </a:prstGeom>
        </p:spPr>
      </p:pic>
      <p:sp>
        <p:nvSpPr>
          <p:cNvPr id="4" name="Line 2">
            <a:extLst>
              <a:ext uri="{FF2B5EF4-FFF2-40B4-BE49-F238E27FC236}">
                <a16:creationId xmlns:a16="http://schemas.microsoft.com/office/drawing/2014/main" id="{58D6C23C-C93F-0F6D-EA3B-D1EA2EFF015E}"/>
              </a:ext>
            </a:extLst>
          </p:cNvPr>
          <p:cNvSpPr/>
          <p:nvPr/>
        </p:nvSpPr>
        <p:spPr bwMode="auto">
          <a:xfrm>
            <a:off x="198437" y="1110665"/>
            <a:ext cx="11993563" cy="20637"/>
          </a:xfrm>
          <a:prstGeom prst="line">
            <a:avLst/>
          </a:prstGeom>
          <a:ln w="3240">
            <a:solidFill>
              <a:srgbClr val="E4948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FB3098-E93B-CCDE-A6EB-2E43BFE24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6</a:t>
            </a:fld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FE21747-DB32-E631-BA0F-1AF57088ED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7592819"/>
              </p:ext>
            </p:extLst>
          </p:nvPr>
        </p:nvGraphicFramePr>
        <p:xfrm>
          <a:off x="198437" y="1572163"/>
          <a:ext cx="11895240" cy="5109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714">
                  <a:extLst>
                    <a:ext uri="{9D8B030D-6E8A-4147-A177-3AD203B41FA5}">
                      <a16:colId xmlns:a16="http://schemas.microsoft.com/office/drawing/2014/main" val="2317450922"/>
                    </a:ext>
                  </a:extLst>
                </a:gridCol>
                <a:gridCol w="10650526">
                  <a:extLst>
                    <a:ext uri="{9D8B030D-6E8A-4147-A177-3AD203B41FA5}">
                      <a16:colId xmlns:a16="http://schemas.microsoft.com/office/drawing/2014/main" val="1123206439"/>
                    </a:ext>
                  </a:extLst>
                </a:gridCol>
              </a:tblGrid>
              <a:tr h="729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FR ID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6194034"/>
                  </a:ext>
                </a:extLst>
              </a:tr>
              <a:tr h="729975">
                <a:tc>
                  <a:txBody>
                    <a:bodyPr/>
                    <a:lstStyle/>
                    <a:p>
                      <a:r>
                        <a:rPr lang="en-IN" sz="2000" dirty="0"/>
                        <a:t>FR-05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The system shall permanently store key-value records in local storage.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2506091"/>
                  </a:ext>
                </a:extLst>
              </a:tr>
              <a:tr h="729975">
                <a:tc>
                  <a:txBody>
                    <a:bodyPr/>
                    <a:lstStyle/>
                    <a:p>
                      <a:r>
                        <a:rPr lang="en-IN" sz="2000" dirty="0"/>
                        <a:t>FR-06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The system shall recover stored data and rebuild the index when the application restarts.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0974802"/>
                  </a:ext>
                </a:extLst>
              </a:tr>
              <a:tr h="729975">
                <a:tc>
                  <a:txBody>
                    <a:bodyPr/>
                    <a:lstStyle/>
                    <a:p>
                      <a:r>
                        <a:rPr lang="en-IN" sz="2000" dirty="0"/>
                        <a:t>FR-07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The system shall detect invalid commands and display appropriate error messages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3867267"/>
                  </a:ext>
                </a:extLst>
              </a:tr>
              <a:tr h="729975">
                <a:tc>
                  <a:txBody>
                    <a:bodyPr/>
                    <a:lstStyle/>
                    <a:p>
                      <a:r>
                        <a:rPr lang="en-IN" sz="2000" dirty="0"/>
                        <a:t>FR-08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The system shall report an error when a requested key does not exist.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5307446"/>
                  </a:ext>
                </a:extLst>
              </a:tr>
              <a:tr h="729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FR-09</a:t>
                      </a:r>
                    </a:p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The system shall provide a web interface for performing database operations and viewing results.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0039042"/>
                  </a:ext>
                </a:extLst>
              </a:tr>
              <a:tr h="729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FR-10</a:t>
                      </a:r>
                    </a:p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The system shall identify and remove obsolete records through compaction to improve storage efficiency.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753819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FB8462A5-EA8D-CB93-CE58-E92A09B9BF8A}"/>
              </a:ext>
            </a:extLst>
          </p:cNvPr>
          <p:cNvSpPr txBox="1">
            <a:spLocks/>
          </p:cNvSpPr>
          <p:nvPr/>
        </p:nvSpPr>
        <p:spPr>
          <a:xfrm>
            <a:off x="-216310" y="667941"/>
            <a:ext cx="4680154" cy="66841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Persistent Key-Value Storage Engine</a:t>
            </a:r>
            <a:endParaRPr lang="en-IN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8500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CCC74-7D9F-57AB-0339-F47AD6FBF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4E0564B-9520-1A2F-2AC5-F0287E1780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7911" y="176012"/>
            <a:ext cx="3422650" cy="582042"/>
          </a:xfrm>
          <a:prstGeom prst="rect">
            <a:avLst/>
          </a:prstGeom>
        </p:spPr>
      </p:pic>
      <p:sp>
        <p:nvSpPr>
          <p:cNvPr id="4" name="Line 2">
            <a:extLst>
              <a:ext uri="{FF2B5EF4-FFF2-40B4-BE49-F238E27FC236}">
                <a16:creationId xmlns:a16="http://schemas.microsoft.com/office/drawing/2014/main" id="{87334C41-5626-9A6B-F971-6A33B646EDFB}"/>
              </a:ext>
            </a:extLst>
          </p:cNvPr>
          <p:cNvSpPr/>
          <p:nvPr/>
        </p:nvSpPr>
        <p:spPr bwMode="auto">
          <a:xfrm>
            <a:off x="198437" y="1110665"/>
            <a:ext cx="11993563" cy="20637"/>
          </a:xfrm>
          <a:prstGeom prst="line">
            <a:avLst/>
          </a:prstGeom>
          <a:ln w="3240">
            <a:solidFill>
              <a:srgbClr val="E4948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1AD0EB-E0D1-6774-B5AA-097D5772826B}"/>
              </a:ext>
            </a:extLst>
          </p:cNvPr>
          <p:cNvSpPr txBox="1"/>
          <p:nvPr/>
        </p:nvSpPr>
        <p:spPr>
          <a:xfrm>
            <a:off x="5751362" y="765108"/>
            <a:ext cx="65389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 OF COMPUTER SCINENCE – ARTIFICIAL INTELLI</a:t>
            </a:r>
            <a:r>
              <a:rPr lang="en-US" sz="1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GENCE</a:t>
            </a:r>
            <a:endParaRPr lang="en-IN" sz="1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156B74B-5028-26F6-CF26-C9E8F290D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7</a:t>
            </a:fld>
            <a:endParaRPr lang="en-IN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2272621-25C3-5CD0-9C86-5734C1BA62B2}"/>
              </a:ext>
            </a:extLst>
          </p:cNvPr>
          <p:cNvSpPr txBox="1">
            <a:spLocks/>
          </p:cNvSpPr>
          <p:nvPr/>
        </p:nvSpPr>
        <p:spPr>
          <a:xfrm>
            <a:off x="-216310" y="667941"/>
            <a:ext cx="4680154" cy="66841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Persistent Key-Value Storage Engine</a:t>
            </a:r>
            <a:endParaRPr lang="en-IN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C9B4D64-D663-3E33-BBB1-315D498A0A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040757"/>
              </p:ext>
            </p:extLst>
          </p:nvPr>
        </p:nvGraphicFramePr>
        <p:xfrm>
          <a:off x="594518" y="1332754"/>
          <a:ext cx="11201400" cy="4862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2320">
                  <a:extLst>
                    <a:ext uri="{9D8B030D-6E8A-4147-A177-3AD203B41FA5}">
                      <a16:colId xmlns:a16="http://schemas.microsoft.com/office/drawing/2014/main" val="2065825555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1173511807"/>
                    </a:ext>
                  </a:extLst>
                </a:gridCol>
              </a:tblGrid>
              <a:tr h="486294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Functional Requirement</a:t>
                      </a:r>
                    </a:p>
                  </a:txBody>
                  <a:tcPr marL="118872" marR="118872" marT="32004" marB="32004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Engine Used</a:t>
                      </a:r>
                    </a:p>
                  </a:txBody>
                  <a:tcPr marL="118872" marR="118872" marT="32004" marB="32004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814786"/>
                  </a:ext>
                </a:extLst>
              </a:tr>
              <a:tr h="486294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32A32"/>
                          </a:solidFill>
                          <a:latin typeface="Arial"/>
                        </a:defRPr>
                      </a:pPr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FR-01: Accept and validate NoSQL commands</a:t>
                      </a:r>
                    </a:p>
                  </a:txBody>
                  <a:tcPr marL="118872" marR="118872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32A32"/>
                          </a:solidFill>
                          <a:latin typeface="Arial"/>
                        </a:defRPr>
                      </a:pPr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Parsing Engine</a:t>
                      </a:r>
                    </a:p>
                  </a:txBody>
                  <a:tcPr marL="118872" marR="118872" marT="32004" marB="3200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315502"/>
                  </a:ext>
                </a:extLst>
              </a:tr>
              <a:tr h="486294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32A32"/>
                          </a:solidFill>
                          <a:latin typeface="Arial"/>
                        </a:defRPr>
                      </a:pPr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FR-02: Create, update and delete key-value pairs</a:t>
                      </a:r>
                    </a:p>
                  </a:txBody>
                  <a:tcPr marL="118872" marR="118872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32A32"/>
                          </a:solidFill>
                          <a:latin typeface="Arial"/>
                        </a:defRPr>
                      </a:pPr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Storage Engine</a:t>
                      </a:r>
                    </a:p>
                  </a:txBody>
                  <a:tcPr marL="118872" marR="118872" marT="32004" marB="3200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7272247"/>
                  </a:ext>
                </a:extLst>
              </a:tr>
              <a:tr h="486294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32A32"/>
                          </a:solidFill>
                          <a:latin typeface="Arial"/>
                        </a:defRPr>
                      </a:pPr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FR-03: Retrieve values using the GET command</a:t>
                      </a:r>
                    </a:p>
                  </a:txBody>
                  <a:tcPr marL="118872" marR="118872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32A32"/>
                          </a:solidFill>
                          <a:latin typeface="Arial"/>
                        </a:defRPr>
                      </a:pPr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Retrieving Engine, Indexing Engine</a:t>
                      </a:r>
                    </a:p>
                  </a:txBody>
                  <a:tcPr marL="118872" marR="118872" marT="32004" marB="3200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4468390"/>
                  </a:ext>
                </a:extLst>
              </a:tr>
              <a:tr h="486294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32A32"/>
                          </a:solidFill>
                          <a:latin typeface="Arial"/>
                        </a:defRPr>
                      </a:pPr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FR-04: Maintain an index for faster retrieval</a:t>
                      </a:r>
                    </a:p>
                  </a:txBody>
                  <a:tcPr marL="118872" marR="118872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32A32"/>
                          </a:solidFill>
                          <a:latin typeface="Arial"/>
                        </a:defRPr>
                      </a:pPr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Indexing Engine</a:t>
                      </a:r>
                    </a:p>
                  </a:txBody>
                  <a:tcPr marL="118872" marR="118872" marT="32004" marB="3200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277361"/>
                  </a:ext>
                </a:extLst>
              </a:tr>
              <a:tr h="486294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32A32"/>
                          </a:solidFill>
                          <a:latin typeface="Arial"/>
                        </a:defRPr>
                      </a:pPr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FR-05: Permanently store records in local storage</a:t>
                      </a:r>
                    </a:p>
                  </a:txBody>
                  <a:tcPr marL="118872" marR="118872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32A32"/>
                          </a:solidFill>
                          <a:latin typeface="Arial"/>
                        </a:defRPr>
                      </a:pPr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Storage Engine</a:t>
                      </a:r>
                    </a:p>
                  </a:txBody>
                  <a:tcPr marL="118872" marR="118872" marT="32004" marB="3200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39884"/>
                  </a:ext>
                </a:extLst>
              </a:tr>
              <a:tr h="486294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32A32"/>
                          </a:solidFill>
                          <a:latin typeface="Arial"/>
                        </a:defRPr>
                      </a:pPr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FR-06: Recover data and rebuild the index after restart</a:t>
                      </a:r>
                    </a:p>
                  </a:txBody>
                  <a:tcPr marL="118872" marR="118872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32A32"/>
                          </a:solidFill>
                          <a:latin typeface="Arial"/>
                        </a:defRPr>
                      </a:pPr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Storage Engine, Indexing Engine</a:t>
                      </a:r>
                    </a:p>
                  </a:txBody>
                  <a:tcPr marL="118872" marR="118872" marT="32004" marB="3200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9931945"/>
                  </a:ext>
                </a:extLst>
              </a:tr>
              <a:tr h="486294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32A32"/>
                          </a:solidFill>
                          <a:latin typeface="Arial"/>
                        </a:defRPr>
                      </a:pPr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FR-07: Detect invalid commands and display errors</a:t>
                      </a:r>
                    </a:p>
                  </a:txBody>
                  <a:tcPr marL="118872" marR="118872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32A32"/>
                          </a:solidFill>
                          <a:latin typeface="Arial"/>
                        </a:defRPr>
                      </a:pPr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Parsing Engine</a:t>
                      </a:r>
                    </a:p>
                  </a:txBody>
                  <a:tcPr marL="118872" marR="118872" marT="32004" marB="3200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96247"/>
                  </a:ext>
                </a:extLst>
              </a:tr>
              <a:tr h="486294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32A32"/>
                          </a:solidFill>
                          <a:latin typeface="Arial"/>
                        </a:defRPr>
                      </a:pPr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FR-08: Display an error when a key does not exist</a:t>
                      </a:r>
                    </a:p>
                  </a:txBody>
                  <a:tcPr marL="118872" marR="118872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32A32"/>
                          </a:solidFill>
                          <a:latin typeface="Arial"/>
                        </a:defRPr>
                      </a:pPr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Retrieving Engine</a:t>
                      </a:r>
                    </a:p>
                  </a:txBody>
                  <a:tcPr marL="118872" marR="118872" marT="32004" marB="3200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9233563"/>
                  </a:ext>
                </a:extLst>
              </a:tr>
              <a:tr h="486294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32A32"/>
                          </a:solidFill>
                          <a:latin typeface="Arial"/>
                        </a:defRPr>
                      </a:pPr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FR-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09</a:t>
                      </a:r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Remove obsolete records through compaction</a:t>
                      </a:r>
                    </a:p>
                  </a:txBody>
                  <a:tcPr marL="118872" marR="118872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32A32"/>
                          </a:solidFill>
                          <a:latin typeface="Arial"/>
                        </a:defRPr>
                      </a:pPr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Storage Engine</a:t>
                      </a:r>
                    </a:p>
                  </a:txBody>
                  <a:tcPr marL="118872" marR="118872" marT="32004" marB="3200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58015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9807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5756B-D84D-92AC-0618-DADBAB605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0518C82-84BC-8B3A-6773-5F69F1FA17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7911" y="176012"/>
            <a:ext cx="3422650" cy="582042"/>
          </a:xfrm>
          <a:prstGeom prst="rect">
            <a:avLst/>
          </a:prstGeom>
        </p:spPr>
      </p:pic>
      <p:sp>
        <p:nvSpPr>
          <p:cNvPr id="4" name="Line 2">
            <a:extLst>
              <a:ext uri="{FF2B5EF4-FFF2-40B4-BE49-F238E27FC236}">
                <a16:creationId xmlns:a16="http://schemas.microsoft.com/office/drawing/2014/main" id="{2E825930-C503-FDEB-3E3B-992D3C08F1DA}"/>
              </a:ext>
            </a:extLst>
          </p:cNvPr>
          <p:cNvSpPr/>
          <p:nvPr/>
        </p:nvSpPr>
        <p:spPr bwMode="auto">
          <a:xfrm>
            <a:off x="198437" y="1110665"/>
            <a:ext cx="11993563" cy="20637"/>
          </a:xfrm>
          <a:prstGeom prst="line">
            <a:avLst/>
          </a:prstGeom>
          <a:ln w="3240">
            <a:solidFill>
              <a:srgbClr val="E4948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D07D626-9043-B12B-EC98-C43C55C64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8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15B2FB-8D47-065E-B177-8B867CA304DB}"/>
              </a:ext>
            </a:extLst>
          </p:cNvPr>
          <p:cNvSpPr txBox="1"/>
          <p:nvPr/>
        </p:nvSpPr>
        <p:spPr>
          <a:xfrm>
            <a:off x="3527963" y="1245952"/>
            <a:ext cx="533450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Requirements </a:t>
            </a:r>
            <a:endParaRPr lang="en-IN" sz="30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4ACA66E-B2DF-69DB-9D8F-66035EABDA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5728437"/>
              </p:ext>
            </p:extLst>
          </p:nvPr>
        </p:nvGraphicFramePr>
        <p:xfrm>
          <a:off x="198437" y="2170238"/>
          <a:ext cx="11796918" cy="34075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25">
                  <a:extLst>
                    <a:ext uri="{9D8B030D-6E8A-4147-A177-3AD203B41FA5}">
                      <a16:colId xmlns:a16="http://schemas.microsoft.com/office/drawing/2014/main" val="2317450922"/>
                    </a:ext>
                  </a:extLst>
                </a:gridCol>
                <a:gridCol w="10562493">
                  <a:extLst>
                    <a:ext uri="{9D8B030D-6E8A-4147-A177-3AD203B41FA5}">
                      <a16:colId xmlns:a16="http://schemas.microsoft.com/office/drawing/2014/main" val="1123206439"/>
                    </a:ext>
                  </a:extLst>
                </a:gridCol>
              </a:tblGrid>
              <a:tr h="8518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NFR ID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6194034"/>
                  </a:ext>
                </a:extLst>
              </a:tr>
              <a:tr h="851893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NFR-01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system shall respond to standard database operations within 2 seconds under normal workload.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2506091"/>
                  </a:ext>
                </a:extLst>
              </a:tr>
              <a:tr h="851893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NFR-02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system shall retrieve a key-value record within 1 second for a database containing up to 10,000 records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0974802"/>
                  </a:ext>
                </a:extLst>
              </a:tr>
              <a:tr h="851893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NFR-03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system shall support at least 10 concurrent user requests without crashing.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3867267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E1B4DAEE-FF0E-D11C-1016-44CAE3A33AE3}"/>
              </a:ext>
            </a:extLst>
          </p:cNvPr>
          <p:cNvSpPr txBox="1">
            <a:spLocks/>
          </p:cNvSpPr>
          <p:nvPr/>
        </p:nvSpPr>
        <p:spPr>
          <a:xfrm>
            <a:off x="-216310" y="667941"/>
            <a:ext cx="4680154" cy="66841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Persistent Key-Value Storage Engine</a:t>
            </a:r>
            <a:endParaRPr lang="en-IN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017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2F723-58CF-5F0D-F32E-A2CCC10A3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2389235-9D3E-9C7D-40FE-8E3ABE5D6E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7911" y="176012"/>
            <a:ext cx="3422650" cy="582042"/>
          </a:xfrm>
          <a:prstGeom prst="rect">
            <a:avLst/>
          </a:prstGeom>
        </p:spPr>
      </p:pic>
      <p:sp>
        <p:nvSpPr>
          <p:cNvPr id="4" name="Line 2">
            <a:extLst>
              <a:ext uri="{FF2B5EF4-FFF2-40B4-BE49-F238E27FC236}">
                <a16:creationId xmlns:a16="http://schemas.microsoft.com/office/drawing/2014/main" id="{8468E697-9F46-5729-37AF-F37751481D72}"/>
              </a:ext>
            </a:extLst>
          </p:cNvPr>
          <p:cNvSpPr/>
          <p:nvPr/>
        </p:nvSpPr>
        <p:spPr bwMode="auto">
          <a:xfrm>
            <a:off x="198437" y="1110665"/>
            <a:ext cx="11993563" cy="20637"/>
          </a:xfrm>
          <a:prstGeom prst="line">
            <a:avLst/>
          </a:prstGeom>
          <a:ln w="3240">
            <a:solidFill>
              <a:srgbClr val="E4948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F3916A2-51FA-7A24-9E3E-1E063C1B4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9</a:t>
            </a:fld>
            <a:endParaRPr lang="en-IN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A33B1F2-2C67-7B39-5CE8-198707C994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968180"/>
              </p:ext>
            </p:extLst>
          </p:nvPr>
        </p:nvGraphicFramePr>
        <p:xfrm>
          <a:off x="197541" y="1815793"/>
          <a:ext cx="11796918" cy="17037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25">
                  <a:extLst>
                    <a:ext uri="{9D8B030D-6E8A-4147-A177-3AD203B41FA5}">
                      <a16:colId xmlns:a16="http://schemas.microsoft.com/office/drawing/2014/main" val="3820306221"/>
                    </a:ext>
                  </a:extLst>
                </a:gridCol>
                <a:gridCol w="10562493">
                  <a:extLst>
                    <a:ext uri="{9D8B030D-6E8A-4147-A177-3AD203B41FA5}">
                      <a16:colId xmlns:a16="http://schemas.microsoft.com/office/drawing/2014/main" val="744465019"/>
                    </a:ext>
                  </a:extLst>
                </a:gridCol>
              </a:tblGrid>
              <a:tr h="851893"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NFR-04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system shall recover stored data and rebuild the index within 10 seconds for up to 10,000 records.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6317727"/>
                  </a:ext>
                </a:extLst>
              </a:tr>
              <a:tr h="851893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NFR-05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system shall support at least 10,000 key-value records without requiring changes to the application architecture.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9258123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D22CDF8C-15D5-A2EA-6042-DD92CDFB6868}"/>
              </a:ext>
            </a:extLst>
          </p:cNvPr>
          <p:cNvSpPr txBox="1">
            <a:spLocks/>
          </p:cNvSpPr>
          <p:nvPr/>
        </p:nvSpPr>
        <p:spPr>
          <a:xfrm>
            <a:off x="-216310" y="667941"/>
            <a:ext cx="4680154" cy="66841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Persistent Key-Value Storage Engine</a:t>
            </a:r>
            <a:endParaRPr lang="en-IN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3202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A75A1-62FE-D22C-9B2A-F6DDD30D0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4625B60-8081-F5BA-2418-C231B3A236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8" t="8792" r="798" b="9602"/>
          <a:stretch>
            <a:fillRect/>
          </a:stretch>
        </p:blipFill>
        <p:spPr>
          <a:xfrm>
            <a:off x="5850194" y="930198"/>
            <a:ext cx="6341806" cy="59278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74378A-42A1-79BE-DB12-D964485442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7911" y="176012"/>
            <a:ext cx="3422650" cy="582042"/>
          </a:xfrm>
          <a:prstGeom prst="rect">
            <a:avLst/>
          </a:prstGeom>
        </p:spPr>
      </p:pic>
      <p:sp>
        <p:nvSpPr>
          <p:cNvPr id="4" name="Line 2">
            <a:extLst>
              <a:ext uri="{FF2B5EF4-FFF2-40B4-BE49-F238E27FC236}">
                <a16:creationId xmlns:a16="http://schemas.microsoft.com/office/drawing/2014/main" id="{6B6578F8-D840-90FA-3B8B-F4D51A8DF879}"/>
              </a:ext>
            </a:extLst>
          </p:cNvPr>
          <p:cNvSpPr/>
          <p:nvPr/>
        </p:nvSpPr>
        <p:spPr bwMode="auto">
          <a:xfrm>
            <a:off x="198437" y="1110665"/>
            <a:ext cx="11993563" cy="20637"/>
          </a:xfrm>
          <a:prstGeom prst="line">
            <a:avLst/>
          </a:prstGeom>
          <a:ln w="3240">
            <a:solidFill>
              <a:srgbClr val="E4948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11EA774-725E-A3A4-A4C2-E822E5EF3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10</a:t>
            </a:fld>
            <a:endParaRPr lang="en-IN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CE4AD89-1674-D409-F53B-7DA08FCD8121}"/>
              </a:ext>
            </a:extLst>
          </p:cNvPr>
          <p:cNvSpPr txBox="1">
            <a:spLocks/>
          </p:cNvSpPr>
          <p:nvPr/>
        </p:nvSpPr>
        <p:spPr>
          <a:xfrm>
            <a:off x="-216310" y="667941"/>
            <a:ext cx="4680154" cy="66841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Persistent Key-Value Storage Engine</a:t>
            </a:r>
            <a:endParaRPr lang="en-IN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E8F264-1490-E7A0-D288-A32639D73C26}"/>
              </a:ext>
            </a:extLst>
          </p:cNvPr>
          <p:cNvSpPr txBox="1"/>
          <p:nvPr/>
        </p:nvSpPr>
        <p:spPr>
          <a:xfrm>
            <a:off x="171808" y="1225083"/>
            <a:ext cx="620907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86EAC9-DB01-861C-48C3-ACA9B0410949}"/>
              </a:ext>
            </a:extLst>
          </p:cNvPr>
          <p:cNvSpPr txBox="1"/>
          <p:nvPr/>
        </p:nvSpPr>
        <p:spPr>
          <a:xfrm>
            <a:off x="198437" y="2286491"/>
            <a:ext cx="541757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diagram shows how the user performs operations such as inserting, retrieving, updating, deleting, viewing records, and compacting the database. </a:t>
            </a: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also shows input validation, index rebuilding, and data recovery after restart to maintain correct and consistent storage.</a:t>
            </a:r>
          </a:p>
        </p:txBody>
      </p:sp>
    </p:spTree>
    <p:extLst>
      <p:ext uri="{BB962C8B-B14F-4D97-AF65-F5344CB8AC3E}">
        <p14:creationId xmlns:p14="http://schemas.microsoft.com/office/powerpoint/2010/main" val="22342226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A9773-5A96-C449-E00E-5E93E20AE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ED37094-3853-F26C-EF90-B2498F9D0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7911" y="176012"/>
            <a:ext cx="3422650" cy="582042"/>
          </a:xfrm>
          <a:prstGeom prst="rect">
            <a:avLst/>
          </a:prstGeom>
        </p:spPr>
      </p:pic>
      <p:sp>
        <p:nvSpPr>
          <p:cNvPr id="4" name="Line 2">
            <a:extLst>
              <a:ext uri="{FF2B5EF4-FFF2-40B4-BE49-F238E27FC236}">
                <a16:creationId xmlns:a16="http://schemas.microsoft.com/office/drawing/2014/main" id="{3BE7DB3A-3506-4075-4234-A8C80632F677}"/>
              </a:ext>
            </a:extLst>
          </p:cNvPr>
          <p:cNvSpPr/>
          <p:nvPr/>
        </p:nvSpPr>
        <p:spPr bwMode="auto">
          <a:xfrm>
            <a:off x="198437" y="1110665"/>
            <a:ext cx="11993563" cy="20637"/>
          </a:xfrm>
          <a:prstGeom prst="line">
            <a:avLst/>
          </a:prstGeom>
          <a:ln w="3240">
            <a:solidFill>
              <a:srgbClr val="E4948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A24753-9B6F-8A1E-6E5F-32F1DB2B4327}"/>
              </a:ext>
            </a:extLst>
          </p:cNvPr>
          <p:cNvSpPr txBox="1"/>
          <p:nvPr/>
        </p:nvSpPr>
        <p:spPr>
          <a:xfrm>
            <a:off x="5751362" y="765108"/>
            <a:ext cx="65389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 OF COMPUTER SCINENCE – ARTIFICIAL INTELLI</a:t>
            </a:r>
            <a:r>
              <a:rPr lang="en-US" sz="1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GENCE</a:t>
            </a:r>
            <a:endParaRPr lang="en-IN" sz="1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4230D2D-51B2-92B9-C904-486B72D15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11</a:t>
            </a:fld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FB6F29-333B-ED8D-3E16-BAFC6A14E5ED}"/>
              </a:ext>
            </a:extLst>
          </p:cNvPr>
          <p:cNvSpPr txBox="1"/>
          <p:nvPr/>
        </p:nvSpPr>
        <p:spPr>
          <a:xfrm>
            <a:off x="4483509" y="2713703"/>
            <a:ext cx="28862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5269611-2CD3-2E83-FFAC-3488E7C77030}"/>
              </a:ext>
            </a:extLst>
          </p:cNvPr>
          <p:cNvSpPr txBox="1">
            <a:spLocks/>
          </p:cNvSpPr>
          <p:nvPr/>
        </p:nvSpPr>
        <p:spPr>
          <a:xfrm>
            <a:off x="-216310" y="667941"/>
            <a:ext cx="4680154" cy="66841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Persistent Key-Value Storage Engine</a:t>
            </a:r>
            <a:endParaRPr lang="en-IN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9092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741</Words>
  <Application>Microsoft Office PowerPoint</Application>
  <PresentationFormat>Widescreen</PresentationFormat>
  <Paragraphs>158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sakshi suryavanshi</dc:creator>
  <cp:lastModifiedBy>sakshi suryavanshi</cp:lastModifiedBy>
  <cp:revision>5</cp:revision>
  <dcterms:created xsi:type="dcterms:W3CDTF">2026-10-09T12:50:04Z</dcterms:created>
  <dcterms:modified xsi:type="dcterms:W3CDTF">2026-10-13T09:06:44Z</dcterms:modified>
</cp:coreProperties>
</file>