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59" r:id="rId6"/>
    <p:sldId id="267" r:id="rId7"/>
    <p:sldId id="260" r:id="rId8"/>
    <p:sldId id="269" r:id="rId9"/>
    <p:sldId id="270" r:id="rId10"/>
    <p:sldId id="261" r:id="rId11"/>
    <p:sldId id="262" r:id="rId12"/>
    <p:sldId id="263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khanannavar" userId="81212287bfbe4891" providerId="LiveId" clId="{189079A3-C3CB-4919-A052-F75FC0E60DE2}"/>
    <pc:docChg chg="undo custSel modSld">
      <pc:chgData name="keerthana khanannavar" userId="81212287bfbe4891" providerId="LiveId" clId="{189079A3-C3CB-4919-A052-F75FC0E60DE2}" dt="2026-10-07T06:46:14.002" v="7" actId="5793"/>
      <pc:docMkLst>
        <pc:docMk/>
      </pc:docMkLst>
      <pc:sldChg chg="modSp mod">
        <pc:chgData name="keerthana khanannavar" userId="81212287bfbe4891" providerId="LiveId" clId="{189079A3-C3CB-4919-A052-F75FC0E60DE2}" dt="2026-10-07T06:46:14.002" v="7" actId="5793"/>
        <pc:sldMkLst>
          <pc:docMk/>
          <pc:sldMk cId="559296690" sldId="269"/>
        </pc:sldMkLst>
        <pc:spChg chg="mod">
          <ac:chgData name="keerthana khanannavar" userId="81212287bfbe4891" providerId="LiveId" clId="{189079A3-C3CB-4919-A052-F75FC0E60DE2}" dt="2026-10-07T06:46:14.002" v="7" actId="5793"/>
          <ac:spMkLst>
            <pc:docMk/>
            <pc:sldMk cId="559296690" sldId="269"/>
            <ac:spMk id="3" creationId="{D92F5BAD-E8B1-7209-33B6-5B47CB0BE1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89025-DDDD-4EEA-A9F4-7313535E849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2B49B-90DE-40EF-B5A2-1CA1FE087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74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2B49B-90DE-40EF-B5A2-1CA1FE087B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2470-6F69-47CD-152C-9CED0EFF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CD0D7-3C44-AC10-02BE-CB274F89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A837-E105-0470-D3D4-7B06925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8F2A-E59E-4E00-8E2B-87D376D60DC6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8978-0DC7-9F3D-6025-3E1AF42C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EF88-A03D-A1EB-AC56-C4BE7B4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47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CE78-6EFE-AC5C-B82A-1B286C37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3848-645C-865F-BE58-FA53E068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828-FB57-68E1-8844-FCCB403E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CA0B-4464-4428-8920-840FAE94B595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5CB2-130D-1659-7A8B-8200D59D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1222-8E8F-1903-1312-C2745BED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7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E5EA-C028-77CA-3FCD-96995BCF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73E4-1A74-B29F-B8BE-B2FFEC9B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62E0-9E6D-53CE-02BC-07B0B66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5B8B1-528F-4E86-9635-978CAE68F156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02C8-FC31-5CFC-8841-9F40CCA2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5108-C9D4-9F39-DCF1-A9B06F6A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E6CD-5DD7-377D-BE7F-A878101C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AF46-3840-72F8-D3B6-301DE7127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57776-0294-D731-6100-D3F99A2E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B42E-93EE-4D76-6F3C-1CA96233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1E5A-D6FB-4EFD-B0B5-C653081CE21E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F9B02-381F-3167-4568-96663475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B7996-3952-F361-930F-6E0D6CF4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5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BAF2-04AE-42EC-9A75-F389EB9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3558A-59FC-54A7-3BD7-007CECB8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9140-B5DF-3728-9736-DC2539992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63CDE-D069-0A82-B568-865AF8ED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DE959-4F62-DB66-0CC8-589104C3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D5546-7030-2403-A4A4-DD717706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D86C-2CB7-47D3-98B4-49F85C8538D3}" type="datetime1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3DD0E-D220-5D1A-3592-95AC18EB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7A302-58EA-5D35-705F-7CC516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1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CE4F-8BBC-1370-9F19-E731A3FA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E6106-7E21-AFDC-80A6-3321869B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47E8-288C-4424-9DA6-7ADA42ABCCE9}" type="datetime1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DAB3-1ACE-7493-B84D-E9AB402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676E-E045-A7AB-48E9-6C11304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6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64190-C29E-BAE1-F6F0-98B2737F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1D7DB-C0C8-4839-B1E8-4F11EA1EE68C}" type="datetime1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BB8E3-6FC7-1D44-7464-0DF1F039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9EFE7-964B-3D4F-DA2E-04D9F85E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3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116A-8A25-8D13-9BC9-47216E01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F3CAA-463F-641E-79E9-AD006D9C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E91CA-0048-C2D2-2F35-73174E74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EDBC2-7C54-5FE5-6F5B-EAB118BF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7F4EF-4C39-4DE5-BC9D-F5F7F4AE940A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ED667-7357-AC2A-F80C-BBAF3B8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DC4F2-90BB-95A1-F649-A289CE65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096C-6E69-81A3-84B4-2E623A63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AAC60-86EA-658D-D32D-5BE52791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0B0FB-3B39-9317-01CF-1D48E0B6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6A11-2396-2AF5-2161-D9F0B7BF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9EFE-462F-4237-9416-8647383DD8E0}" type="datetime1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BA76-D44D-2CDB-F3D4-827B7F97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9F546-44B0-5305-C79F-4BEC7205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9CAE-B548-717C-5386-C6D682D5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F9182-15AB-DA4E-6D3D-02CDF03D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0C6C-45C0-38F1-CC32-055B00AB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2182-123B-45FB-9699-D13EBCDB19C4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18FBA-31C8-EBAE-27CB-B1365956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5BD0-0C30-1962-C11E-EABD045F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1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EA9D9-58AF-5F97-A6FB-E26C1826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52EDE-7AC1-2CAC-E2F3-C44AA4FD5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77B4-98F9-FF44-BAFF-E83E646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2AF83-CA60-4BFE-B510-01EB83ADFAA8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AFD3-CC99-B583-8AC1-9664594F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D4B74-C40E-8036-5DD5-0648D69D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5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23724-DA81-B1CD-6C3A-3511EF91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990B-7AA8-316C-CAB1-9A5EAA3E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1B12-069C-9C93-6828-F3B2835ED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E9DCB-1A64-472D-A3CD-D43A73F12860}" type="datetime1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8572-882D-FB2A-CDCF-DCC280EA4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AD2AA-64CD-E80A-E379-A1B5E652C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6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847B-EC4A-A55B-9CEE-F9E7B662927C}"/>
              </a:ext>
            </a:extLst>
          </p:cNvPr>
          <p:cNvSpPr txBox="1">
            <a:spLocks/>
          </p:cNvSpPr>
          <p:nvPr/>
        </p:nvSpPr>
        <p:spPr>
          <a:xfrm>
            <a:off x="1805115" y="1190085"/>
            <a:ext cx="878020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4FFEC-6BC9-DCD6-689B-696B333D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5F160D2B-A2DA-4A2B-33C1-235C5ADA2D8F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11A9CA-1BDE-6F1C-4F13-6C49303CB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804394"/>
              </p:ext>
            </p:extLst>
          </p:nvPr>
        </p:nvGraphicFramePr>
        <p:xfrm>
          <a:off x="1573164" y="2231749"/>
          <a:ext cx="8780204" cy="341928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13483">
                  <a:extLst>
                    <a:ext uri="{9D8B030D-6E8A-4147-A177-3AD203B41FA5}">
                      <a16:colId xmlns:a16="http://schemas.microsoft.com/office/drawing/2014/main" val="4018028220"/>
                    </a:ext>
                  </a:extLst>
                </a:gridCol>
                <a:gridCol w="3404123">
                  <a:extLst>
                    <a:ext uri="{9D8B030D-6E8A-4147-A177-3AD203B41FA5}">
                      <a16:colId xmlns:a16="http://schemas.microsoft.com/office/drawing/2014/main" val="3894831106"/>
                    </a:ext>
                  </a:extLst>
                </a:gridCol>
                <a:gridCol w="1962598">
                  <a:extLst>
                    <a:ext uri="{9D8B030D-6E8A-4147-A177-3AD203B41FA5}">
                      <a16:colId xmlns:a16="http://schemas.microsoft.com/office/drawing/2014/main" val="2506600186"/>
                    </a:ext>
                  </a:extLst>
                </a:gridCol>
              </a:tblGrid>
              <a:tr h="4752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538414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Pooja 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01FE24BCI105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238020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Sukanya 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01FE24BCI108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46668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Keerthana K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01FE24BCI118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627512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Sakshi D Suryavanshi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01FE24BCI109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37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454172-6312-C6F1-281C-D3312E83AF4F}"/>
              </a:ext>
            </a:extLst>
          </p:cNvPr>
          <p:cNvSpPr txBox="1"/>
          <p:nvPr/>
        </p:nvSpPr>
        <p:spPr>
          <a:xfrm>
            <a:off x="4557253" y="5708171"/>
            <a:ext cx="3077494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Shrushti Gani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7B07A-15E8-1AD8-9F17-91516B5D8C96}"/>
              </a:ext>
            </a:extLst>
          </p:cNvPr>
          <p:cNvSpPr txBox="1"/>
          <p:nvPr/>
        </p:nvSpPr>
        <p:spPr>
          <a:xfrm>
            <a:off x="5751362" y="765108"/>
            <a:ext cx="6538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SCINENCE – ARTIFICIAL INTELLI</a:t>
            </a: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GENCE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FB4D2-6622-487A-BC25-937798482487}"/>
              </a:ext>
            </a:extLst>
          </p:cNvPr>
          <p:cNvSpPr txBox="1"/>
          <p:nvPr/>
        </p:nvSpPr>
        <p:spPr>
          <a:xfrm>
            <a:off x="5094005" y="1732618"/>
            <a:ext cx="279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A9BC47-5871-12C4-E4ED-BDDC5C80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A098-6692-79F0-2416-72103F0948F9}"/>
              </a:ext>
            </a:extLst>
          </p:cNvPr>
          <p:cNvSpPr txBox="1">
            <a:spLocks/>
          </p:cNvSpPr>
          <p:nvPr/>
        </p:nvSpPr>
        <p:spPr>
          <a:xfrm>
            <a:off x="0" y="80963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2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-61759" y="70110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D6D9E3-5B28-BE3E-9F28-7ED582C3E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5E0298E-0D11-C3D1-31F5-BF298C546987}"/>
              </a:ext>
            </a:extLst>
          </p:cNvPr>
          <p:cNvSpPr txBox="1">
            <a:spLocks/>
          </p:cNvSpPr>
          <p:nvPr/>
        </p:nvSpPr>
        <p:spPr>
          <a:xfrm>
            <a:off x="206477" y="771526"/>
            <a:ext cx="11503742" cy="4293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Actual Problem: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applications need to store information in the form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in-memory storage such as a dictionary or hash table is fast, but the data is lost when the application is closed or restarted . 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normal files can keep the data, but the developer has to manually handle searching, updating, deleting and maintaining the data.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 database can solve these problems, but it may be more complex than needed for small key-value data.</a:t>
            </a:r>
          </a:p>
          <a:p>
            <a:pPr marL="0" indent="0" algn="just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problem: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 and reliable way to store key-value data permanently and retrieve it efficiently.</a:t>
            </a:r>
          </a:p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943546-0D88-F7EA-BFB4-8E03DDA2881D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5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418DF-4630-4F46-906C-87F3D6DB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817841"/>
              </p:ext>
            </p:extLst>
          </p:nvPr>
        </p:nvGraphicFramePr>
        <p:xfrm>
          <a:off x="213672" y="1377313"/>
          <a:ext cx="11764655" cy="51819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2931">
                  <a:extLst>
                    <a:ext uri="{9D8B030D-6E8A-4147-A177-3AD203B41FA5}">
                      <a16:colId xmlns:a16="http://schemas.microsoft.com/office/drawing/2014/main" val="1807892940"/>
                    </a:ext>
                  </a:extLst>
                </a:gridCol>
                <a:gridCol w="2352931">
                  <a:extLst>
                    <a:ext uri="{9D8B030D-6E8A-4147-A177-3AD203B41FA5}">
                      <a16:colId xmlns:a16="http://schemas.microsoft.com/office/drawing/2014/main" val="2679630845"/>
                    </a:ext>
                  </a:extLst>
                </a:gridCol>
                <a:gridCol w="2352931">
                  <a:extLst>
                    <a:ext uri="{9D8B030D-6E8A-4147-A177-3AD203B41FA5}">
                      <a16:colId xmlns:a16="http://schemas.microsoft.com/office/drawing/2014/main" val="306669322"/>
                    </a:ext>
                  </a:extLst>
                </a:gridCol>
                <a:gridCol w="2352931">
                  <a:extLst>
                    <a:ext uri="{9D8B030D-6E8A-4147-A177-3AD203B41FA5}">
                      <a16:colId xmlns:a16="http://schemas.microsoft.com/office/drawing/2014/main" val="2944498819"/>
                    </a:ext>
                  </a:extLst>
                </a:gridCol>
                <a:gridCol w="2352931">
                  <a:extLst>
                    <a:ext uri="{9D8B030D-6E8A-4147-A177-3AD203B41FA5}">
                      <a16:colId xmlns:a16="http://schemas.microsoft.com/office/drawing/2014/main" val="1487923662"/>
                    </a:ext>
                  </a:extLst>
                </a:gridCol>
              </a:tblGrid>
              <a:tr h="416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Their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Their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faced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0026"/>
                  </a:ext>
                </a:extLst>
              </a:tr>
              <a:tr h="78597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data storage and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manage storage logic themselves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storage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07505"/>
                  </a:ext>
                </a:extLst>
              </a:tr>
              <a:tr h="78597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apps and websites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user settings and application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handling can become complicated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CRUD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63704"/>
                  </a:ext>
                </a:extLst>
              </a:tr>
              <a:tr h="60103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IoT/Edge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device-based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data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may not always be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persistent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861757"/>
                  </a:ext>
                </a:extLst>
              </a:tr>
              <a:tr h="78597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Administrators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and recoverable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loss/corruption creates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reliability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79189"/>
                  </a:ext>
                </a:extLst>
              </a:tr>
              <a:tr h="78597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the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Their data should remain after restart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may be lost if not stored properly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available when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76555"/>
                  </a:ext>
                </a:extLst>
              </a:tr>
              <a:tr h="60103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and achievable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time and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working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021680"/>
                  </a:ext>
                </a:extLst>
              </a:tr>
            </a:tbl>
          </a:graphicData>
        </a:graphic>
      </p:graphicFrame>
      <p:sp>
        <p:nvSpPr>
          <p:cNvPr id="4" name="Line 2">
            <a:extLst>
              <a:ext uri="{FF2B5EF4-FFF2-40B4-BE49-F238E27FC236}">
                <a16:creationId xmlns:a16="http://schemas.microsoft.com/office/drawing/2014/main" id="{C96CB2B6-9BE6-578F-FC85-43F31A43161E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8C376-316E-6E69-0844-BFF23B418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FD2976-8648-0DF8-2EA7-C0E4841422F3}"/>
              </a:ext>
            </a:extLst>
          </p:cNvPr>
          <p:cNvSpPr txBox="1"/>
          <p:nvPr/>
        </p:nvSpPr>
        <p:spPr>
          <a:xfrm>
            <a:off x="4025951" y="76058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B92F49-B462-129B-9BBF-29A98DA5A80E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5E19-AC45-CA01-494D-84F7D76B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49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ADD4-02FC-8EA9-432E-0669CB4E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7FCA355-9654-5372-C33B-48704E0A10A2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E3DDC-6B61-77F0-BC1C-E7869484C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F4E595-13EA-1985-28C5-DE0683F1BA82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1BC978-0FCF-1884-1545-1ADB1AD404B9}"/>
              </a:ext>
            </a:extLst>
          </p:cNvPr>
          <p:cNvSpPr txBox="1"/>
          <p:nvPr/>
        </p:nvSpPr>
        <p:spPr>
          <a:xfrm>
            <a:off x="747252" y="961841"/>
            <a:ext cx="11651226" cy="55197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IN" b="1" u="sng" dirty="0"/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stakeholders: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Developers,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Web/Mobile Developers,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IoT/Edge Developers,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Team.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stakeholders: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Users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A1329B-BA74-5E3C-4F36-1777F881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77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D8871EE3-C70F-5F42-6028-893B16EEE710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ED692-9387-500D-5E48-74983B984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AA33A9-DCE0-1EFC-C80E-B49835FF3E0D}"/>
              </a:ext>
            </a:extLst>
          </p:cNvPr>
          <p:cNvSpPr txBox="1"/>
          <p:nvPr/>
        </p:nvSpPr>
        <p:spPr>
          <a:xfrm>
            <a:off x="2605548" y="750888"/>
            <a:ext cx="48866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Current Working Process: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ED5E9-499F-0B56-DD6B-27B08A14F3AD}"/>
              </a:ext>
            </a:extLst>
          </p:cNvPr>
          <p:cNvSpPr txBox="1"/>
          <p:nvPr/>
        </p:nvSpPr>
        <p:spPr>
          <a:xfrm>
            <a:off x="386499" y="873958"/>
            <a:ext cx="1134987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our proposed system, developers generally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files, or a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their requirements.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process: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 creates key-value data.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 chooses where to store 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stored.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application needs the data, it searches for the key.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 performs update or delete when required.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only memory was used and the application closes, the data is lost.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files are used, the developer has to handle data reading, searching, updating and deleting manually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044B33-7C32-2354-7FF8-54F8BD4E7FCC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16F3F7-5049-B2E2-EFD1-99AADCC3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8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8C8BF-AA22-90AD-2AF1-1F92D615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AEE89A97-75D1-11A3-33F6-7706EBEE21A0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14F25-62A2-DB68-081A-42A2A3DBF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4D48C8-23C4-5FC2-EDC4-A2770F700D6C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603C1-70CA-8A3C-7DF8-49451F146CE9}"/>
              </a:ext>
            </a:extLst>
          </p:cNvPr>
          <p:cNvSpPr txBox="1"/>
          <p:nvPr/>
        </p:nvSpPr>
        <p:spPr>
          <a:xfrm>
            <a:off x="1176593" y="1208351"/>
            <a:ext cx="9500727" cy="39962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pain points:</a:t>
            </a:r>
          </a:p>
          <a:p>
            <a:pPr>
              <a:lnSpc>
                <a:spcPct val="150000"/>
              </a:lnSpc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lost after application restart.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large files can become slow.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and deleting data in files can be difficult.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need to write storage-related code repeatedly.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after an unexpected shutdown may be difficult.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89F5E-D4D8-6F6D-109D-EF9AC5C0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44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ECAD-D8D6-2C8F-49A8-1CC39A89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4A680357-0028-6FC0-DB0B-B964A0C23DD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EC5D5-E9F8-0A5D-77AD-2F4BCEFEF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B94EEA-AD77-85B8-1E51-3C417CD30533}"/>
              </a:ext>
            </a:extLst>
          </p:cNvPr>
          <p:cNvSpPr txBox="1"/>
          <p:nvPr/>
        </p:nvSpPr>
        <p:spPr>
          <a:xfrm>
            <a:off x="993059" y="1208351"/>
            <a:ext cx="991091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Concise Problem Statement:</a:t>
            </a:r>
          </a:p>
          <a:p>
            <a:pPr>
              <a:buNone/>
            </a:pPr>
            <a:endParaRPr lang="en-IN" sz="2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simple, reliable, and efficient persistent key-value storage system that can store and manage data permanently, provide fast key-based retrieval, support updating and deletion of data, and maintain data availability after application or system restarts .This is our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computing problem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CF6EA5-0008-0DFA-A3BD-AA50B8075D28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6155A3-6B1B-8E93-3A06-2A9E0E81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21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DEF6-436F-3598-784C-F721E63A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C5A35FCB-D5E9-63F1-3317-B6DA3B7505B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07890-E5CB-7DDC-B6E6-E9E47FBE6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F960994-ABB3-5A62-8D5A-4654D5BF55FB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F5BAD-E8B1-7209-33B6-5B47CB0BE1A6}"/>
              </a:ext>
            </a:extLst>
          </p:cNvPr>
          <p:cNvSpPr txBox="1"/>
          <p:nvPr/>
        </p:nvSpPr>
        <p:spPr>
          <a:xfrm>
            <a:off x="875071" y="953224"/>
            <a:ext cx="9246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Goals/Objectives 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key-value data permanently so that it remains after restart.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Create, Read, Update and Delete (CRUD) operations.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fast retrieval using the key.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interface/API for applications to use the storage system.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system for correctness, performance and basic recovery.</a:t>
            </a:r>
            <a:r>
              <a:rPr lang="en-IN" sz="24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89651-AD53-A821-51AE-0DF3E466860F}"/>
              </a:ext>
            </a:extLst>
          </p:cNvPr>
          <p:cNvSpPr txBox="1"/>
          <p:nvPr/>
        </p:nvSpPr>
        <p:spPr>
          <a:xfrm>
            <a:off x="875071" y="5108208"/>
            <a:ext cx="10722436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make a small storage system where developers can save data using a key, get it quickly, update it, delete it, and still have the data after restarting the application.</a:t>
            </a: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D1B8E-DC63-1F8E-C622-84A60AA8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29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5122-7184-BEE4-0AFB-B68C1AF5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364B5383-8831-F23B-3FAF-0FF1D6B42DE2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4CAA6-B3A3-C561-B0A7-02C9405BE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3FEA05A-ED72-4294-2ED6-6289D11F3B58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460DB-6C9E-83E9-1555-5603E2FA3ABB}"/>
              </a:ext>
            </a:extLst>
          </p:cNvPr>
          <p:cNvSpPr txBox="1"/>
          <p:nvPr/>
        </p:nvSpPr>
        <p:spPr>
          <a:xfrm>
            <a:off x="1176593" y="1208351"/>
            <a:ext cx="9500727" cy="5799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B1567-311F-2F63-6CDB-EEF756D6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2B6101-5B6B-1F4D-0410-D6B0711DA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68747"/>
              </p:ext>
            </p:extLst>
          </p:nvPr>
        </p:nvGraphicFramePr>
        <p:xfrm>
          <a:off x="569685" y="1521739"/>
          <a:ext cx="10206469" cy="34878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4866">
                  <a:extLst>
                    <a:ext uri="{9D8B030D-6E8A-4147-A177-3AD203B41FA5}">
                      <a16:colId xmlns:a16="http://schemas.microsoft.com/office/drawing/2014/main" val="2391949044"/>
                    </a:ext>
                  </a:extLst>
                </a:gridCol>
                <a:gridCol w="3255864">
                  <a:extLst>
                    <a:ext uri="{9D8B030D-6E8A-4147-A177-3AD203B41FA5}">
                      <a16:colId xmlns:a16="http://schemas.microsoft.com/office/drawing/2014/main" val="183877308"/>
                    </a:ext>
                  </a:extLst>
                </a:gridCol>
                <a:gridCol w="6215739">
                  <a:extLst>
                    <a:ext uri="{9D8B030D-6E8A-4147-A177-3AD203B41FA5}">
                      <a16:colId xmlns:a16="http://schemas.microsoft.com/office/drawing/2014/main" val="3850531058"/>
                    </a:ext>
                  </a:extLst>
                </a:gridCol>
              </a:tblGrid>
              <a:tr h="5594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SI.No.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Concepts 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1923922575"/>
                  </a:ext>
                </a:extLst>
              </a:tr>
              <a:tr h="5601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 and Algorithms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Hashing, hash tables, searching, indexing, time complexity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1383278808"/>
                  </a:ext>
                </a:extLst>
              </a:tr>
              <a:tr h="5601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Systems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systems, secondary storage, file handling, buffering, recovery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3569954729"/>
                  </a:ext>
                </a:extLst>
              </a:tr>
              <a:tr h="5601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 Mathematics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Sets, functions, mappings, relations, logic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3668773607"/>
                  </a:ext>
                </a:extLst>
              </a:tr>
              <a:tr h="5601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800" kern="10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Requirements, modular design, testing, risk management</a:t>
                      </a:r>
                      <a:endParaRPr lang="en-IN" sz="1800" kern="10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3512960037"/>
                  </a:ext>
                </a:extLst>
              </a:tr>
              <a:tr h="56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Bookman Old Style" panose="020506040505050202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endParaRPr lang="en-I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Management System</a:t>
                      </a:r>
                      <a:endParaRPr lang="en-IN" sz="1800" kern="10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endParaRPr lang="en-IN" sz="1800" kern="10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 Operations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  <a:buNone/>
                      </a:pPr>
                      <a:endParaRPr lang="en-IN" sz="1800" kern="10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ea typeface="Bookman Old Style" panose="0205060405050502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75" marR="41275" marT="34925" marB="34925" anchor="ctr"/>
                </a:tc>
                <a:extLst>
                  <a:ext uri="{0D108BD9-81ED-4DB2-BD59-A6C34878D82A}">
                    <a16:rowId xmlns:a16="http://schemas.microsoft.com/office/drawing/2014/main" val="536386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28172FC-027E-F6F1-E5AD-5411D792B1F3}"/>
              </a:ext>
            </a:extLst>
          </p:cNvPr>
          <p:cNvSpPr txBox="1"/>
          <p:nvPr/>
        </p:nvSpPr>
        <p:spPr>
          <a:xfrm>
            <a:off x="923647" y="926861"/>
            <a:ext cx="63752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tabLst>
                <a:tab pos="228600" algn="l"/>
              </a:tabLst>
            </a:pPr>
            <a:r>
              <a:rPr lang="en-IN" sz="2600" b="1" dirty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</a:t>
            </a:r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600" b="1" dirty="0">
              <a:solidFill>
                <a:schemeClr val="accent1">
                  <a:lumMod val="75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93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C9FF-BC7E-3156-AE49-51D5B449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2C0EDAB5-45D9-0032-4E2C-A4706FB12FDF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6410A-806C-51F3-DD31-3C732FA32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76F564-A09A-1026-8ED0-584AFABDCF82}"/>
              </a:ext>
            </a:extLst>
          </p:cNvPr>
          <p:cNvSpPr txBox="1"/>
          <p:nvPr/>
        </p:nvSpPr>
        <p:spPr>
          <a:xfrm>
            <a:off x="3978401" y="7508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Scope: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819B3-6C7B-3BC9-CC2A-07184C02A2DB}"/>
              </a:ext>
            </a:extLst>
          </p:cNvPr>
          <p:cNvSpPr txBox="1"/>
          <p:nvPr/>
        </p:nvSpPr>
        <p:spPr>
          <a:xfrm>
            <a:off x="636331" y="1504786"/>
            <a:ext cx="5113287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In-Scope — We WILL develop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key-value pairs.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 using a key.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existing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key-value pairs.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Permanent/local storage on disk.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or a suitable data structure for faster key lookup.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validation.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recovery after restart.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API/interface.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with controlled datasets.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50F52-26C5-C891-FB58-BD8163D9E3EE}"/>
              </a:ext>
            </a:extLst>
          </p:cNvPr>
          <p:cNvSpPr txBox="1"/>
          <p:nvPr/>
        </p:nvSpPr>
        <p:spPr>
          <a:xfrm>
            <a:off x="6596932" y="1504786"/>
            <a:ext cx="511328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Out-of-Scope — We WILL NOT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distributed database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Multi-region data replication.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cloud-scale deployment.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SQL query language.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enterprise authentication.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distributed consensus.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Production-level high availability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4B3DA-FC72-50AC-EC16-2AC505033496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E51AC-2F56-3BD6-C643-7B1C122C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76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73D5-4D73-767A-D866-6185BAAE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7561AC91-B727-CBD2-71CE-00EC66866040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8FAD3-6B15-800C-427F-AD2A931E3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73F749-530A-19AE-7194-2B272D4E788D}"/>
              </a:ext>
            </a:extLst>
          </p:cNvPr>
          <p:cNvSpPr txBox="1"/>
          <p:nvPr/>
        </p:nvSpPr>
        <p:spPr>
          <a:xfrm>
            <a:off x="4686326" y="100027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23052E-52AB-C170-0464-5D561DC3116E}"/>
              </a:ext>
            </a:extLst>
          </p:cNvPr>
          <p:cNvSpPr txBox="1"/>
          <p:nvPr/>
        </p:nvSpPr>
        <p:spPr>
          <a:xfrm>
            <a:off x="201203" y="1952128"/>
            <a:ext cx="6213986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Java / C++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tables and other data structures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disk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or Spring Boot for the API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need expensive hardware or a large server.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052F1-0911-B417-3A80-7E3EB9EFB9E9}"/>
              </a:ext>
            </a:extLst>
          </p:cNvPr>
          <p:cNvSpPr txBox="1"/>
          <p:nvPr/>
        </p:nvSpPr>
        <p:spPr>
          <a:xfrm>
            <a:off x="6504397" y="1952128"/>
            <a:ext cx="5486400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run on a normal computer.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developer can perform operations such as: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→ GET → UPDATE → DELETE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engine will save the data locally and retrieve it when required.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937D3-2E62-1C20-93CB-6AA026169BDC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52DC-AA02-2D3F-C132-422E9699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88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7046-BDC1-2F67-B0CF-4F5C7CFD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C50BA581-D5F7-7EAF-1C25-6DEBFF31850B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F9D86-5997-6AB3-96CA-5DC579C4D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800E62-4A3E-BEEB-2E97-B99ABF079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764108"/>
              </p:ext>
            </p:extLst>
          </p:nvPr>
        </p:nvGraphicFramePr>
        <p:xfrm>
          <a:off x="138906" y="1284605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708151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67199290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210533391"/>
                    </a:ext>
                  </a:extLst>
                </a:gridCol>
              </a:tblGrid>
              <a:tr h="336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could happen?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we can reduce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96998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data may become incorrect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data and use controlled writes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8067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may be lost during unexpected shutdown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safe saving and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42270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Searching may become slow when data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indexing and test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1724"/>
                  </a:ext>
                </a:extLst>
              </a:tr>
              <a:tr h="33680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records may use the same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and enforce unique keys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124069"/>
                  </a:ext>
                </a:extLst>
              </a:tr>
              <a:tr h="33680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becomes too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may add too many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 only the planned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135500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enough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features may remain incomplete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CRUD and persistence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255296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technical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may struggle with storage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work and learn each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37071"/>
                  </a:ext>
                </a:extLst>
              </a:tr>
              <a:tr h="59589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may not communicate correctly with storage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the storage engine separately before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779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0344C3-AFC4-8623-FA6A-C2C371CE97A0}"/>
              </a:ext>
            </a:extLst>
          </p:cNvPr>
          <p:cNvSpPr txBox="1"/>
          <p:nvPr/>
        </p:nvSpPr>
        <p:spPr>
          <a:xfrm>
            <a:off x="3998068" y="771525"/>
            <a:ext cx="61156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Risks &amp; Mitigation: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07CD5C-875B-10C6-FBA6-143CE7ACA6B0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B23B4D-9013-B28F-0936-2786396D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44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09FF-CC4B-EE36-1A8A-ECF03381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361F7842-74B2-13DB-140B-6FC63DB0B47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46088-62F4-9A5E-503D-287D35B32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25632A-4CFF-B057-2203-9D8CCC2B1FF1}"/>
              </a:ext>
            </a:extLst>
          </p:cNvPr>
          <p:cNvSpPr txBox="1"/>
          <p:nvPr/>
        </p:nvSpPr>
        <p:spPr>
          <a:xfrm>
            <a:off x="3858802" y="31694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A25544-ED48-A277-BFD1-A1160FD5BA74}"/>
              </a:ext>
            </a:extLst>
          </p:cNvPr>
          <p:cNvSpPr txBox="1">
            <a:spLocks/>
          </p:cNvSpPr>
          <p:nvPr/>
        </p:nvSpPr>
        <p:spPr>
          <a:xfrm>
            <a:off x="0" y="205542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DF3D9-846B-B974-B632-084522B2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1108</Words>
  <Application>Microsoft Office PowerPoint</Application>
  <PresentationFormat>Widescreen</PresentationFormat>
  <Paragraphs>230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V Gurlahosur</dc:creator>
  <cp:lastModifiedBy>keerthana khanannavar</cp:lastModifiedBy>
  <cp:revision>21</cp:revision>
  <dcterms:created xsi:type="dcterms:W3CDTF">2026-09-11T08:58:26Z</dcterms:created>
  <dcterms:modified xsi:type="dcterms:W3CDTF">2026-10-07T06:46:20Z</dcterms:modified>
</cp:coreProperties>
</file>